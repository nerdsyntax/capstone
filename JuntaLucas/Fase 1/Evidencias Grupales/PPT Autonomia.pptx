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oboto Bold" charset="1" panose="02000000000000000000"/>
      <p:regular r:id="rId17"/>
    </p:embeddedFont>
    <p:embeddedFont>
      <p:font typeface="Open Sans" charset="1" panose="020B0606030504020204"/>
      <p:regular r:id="rId18"/>
    </p:embeddedFont>
    <p:embeddedFont>
      <p:font typeface="Glacial Indifference" charset="1" panose="00000000000000000000"/>
      <p:regular r:id="rId19"/>
    </p:embeddedFont>
    <p:embeddedFont>
      <p:font typeface="League Spartan" charset="1" panose="00000800000000000000"/>
      <p:regular r:id="rId20"/>
    </p:embeddedFont>
    <p:embeddedFont>
      <p:font typeface="Glacial Indifference Bold" charset="1" panose="000008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2594880" y="2568602"/>
            <a:ext cx="1081601" cy="1373858"/>
          </a:xfrm>
          <a:custGeom>
            <a:avLst/>
            <a:gdLst/>
            <a:ahLst/>
            <a:cxnLst/>
            <a:rect r="r" b="b" t="t" l="l"/>
            <a:pathLst>
              <a:path h="1373858" w="1081601">
                <a:moveTo>
                  <a:pt x="0" y="0"/>
                </a:moveTo>
                <a:lnTo>
                  <a:pt x="1081601" y="0"/>
                </a:lnTo>
                <a:lnTo>
                  <a:pt x="1081601" y="1373858"/>
                </a:lnTo>
                <a:lnTo>
                  <a:pt x="0" y="13738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152320" y="3704335"/>
            <a:ext cx="7983360" cy="2066925"/>
          </a:xfrm>
          <a:prstGeom prst="rect">
            <a:avLst/>
          </a:prstGeom>
        </p:spPr>
        <p:txBody>
          <a:bodyPr anchor="t" rtlCol="false" tIns="0" lIns="0" bIns="0" rIns="0">
            <a:spAutoFit/>
          </a:bodyPr>
          <a:lstStyle/>
          <a:p>
            <a:pPr algn="l">
              <a:lnSpc>
                <a:spcPts val="16800"/>
              </a:lnSpc>
            </a:pPr>
            <a:r>
              <a:rPr lang="en-US" sz="12000" b="true">
                <a:solidFill>
                  <a:srgbClr val="000000"/>
                </a:solidFill>
                <a:latin typeface="Roboto Bold"/>
                <a:ea typeface="Roboto Bold"/>
                <a:cs typeface="Roboto Bold"/>
                <a:sym typeface="Roboto Bold"/>
              </a:rPr>
              <a:t>Autonom</a:t>
            </a:r>
            <a:r>
              <a:rPr lang="en-US" sz="12000" b="true">
                <a:solidFill>
                  <a:srgbClr val="CB6CE6"/>
                </a:solidFill>
                <a:latin typeface="Roboto Bold"/>
                <a:ea typeface="Roboto Bold"/>
                <a:cs typeface="Roboto Bold"/>
                <a:sym typeface="Roboto Bold"/>
              </a:rPr>
              <a:t>IA</a:t>
            </a:r>
          </a:p>
        </p:txBody>
      </p:sp>
      <p:grpSp>
        <p:nvGrpSpPr>
          <p:cNvPr name="Group 5" id="5"/>
          <p:cNvGrpSpPr/>
          <p:nvPr/>
        </p:nvGrpSpPr>
        <p:grpSpPr>
          <a:xfrm rot="-10800000">
            <a:off x="-2167748" y="-853328"/>
            <a:ext cx="8109875" cy="6505401"/>
            <a:chOff x="0" y="0"/>
            <a:chExt cx="10813167" cy="8673868"/>
          </a:xfrm>
        </p:grpSpPr>
        <p:grpSp>
          <p:nvGrpSpPr>
            <p:cNvPr name="Group 6" id="6"/>
            <p:cNvGrpSpPr/>
            <p:nvPr/>
          </p:nvGrpSpPr>
          <p:grpSpPr>
            <a:xfrm rot="-5400000">
              <a:off x="2572088" y="-2572088"/>
              <a:ext cx="5668990" cy="10813167"/>
              <a:chOff x="0" y="0"/>
              <a:chExt cx="406400" cy="775177"/>
            </a:xfrm>
          </p:grpSpPr>
          <p:sp>
            <p:nvSpPr>
              <p:cNvPr name="Freeform 7" id="7"/>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8" id="8"/>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1924489" y="910007"/>
              <a:ext cx="5839372" cy="9688349"/>
              <a:chOff x="0" y="0"/>
              <a:chExt cx="406400" cy="674275"/>
            </a:xfrm>
          </p:grpSpPr>
          <p:sp>
            <p:nvSpPr>
              <p:cNvPr name="Freeform 10" id="1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1" id="1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2" id="12"/>
          <p:cNvGrpSpPr/>
          <p:nvPr/>
        </p:nvGrpSpPr>
        <p:grpSpPr>
          <a:xfrm rot="0">
            <a:off x="12594880" y="5006818"/>
            <a:ext cx="8570177" cy="6505401"/>
            <a:chOff x="0" y="0"/>
            <a:chExt cx="11426903" cy="8673868"/>
          </a:xfrm>
        </p:grpSpPr>
        <p:grpSp>
          <p:nvGrpSpPr>
            <p:cNvPr name="Group 13" id="13"/>
            <p:cNvGrpSpPr/>
            <p:nvPr/>
          </p:nvGrpSpPr>
          <p:grpSpPr>
            <a:xfrm rot="-5400000">
              <a:off x="2572088" y="-2572088"/>
              <a:ext cx="5668990" cy="10813167"/>
              <a:chOff x="0" y="0"/>
              <a:chExt cx="406400" cy="775177"/>
            </a:xfrm>
          </p:grpSpPr>
          <p:sp>
            <p:nvSpPr>
              <p:cNvPr name="Freeform 14" id="14"/>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15" id="15"/>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5400000">
              <a:off x="2793765" y="40730"/>
              <a:ext cx="5839372" cy="11426903"/>
              <a:chOff x="0" y="0"/>
              <a:chExt cx="406400" cy="795273"/>
            </a:xfrm>
          </p:grpSpPr>
          <p:sp>
            <p:nvSpPr>
              <p:cNvPr name="Freeform 17" id="17"/>
              <p:cNvSpPr/>
              <p:nvPr/>
            </p:nvSpPr>
            <p:spPr>
              <a:xfrm flipH="false" flipV="false" rot="0">
                <a:off x="0" y="0"/>
                <a:ext cx="406400" cy="795273"/>
              </a:xfrm>
              <a:custGeom>
                <a:avLst/>
                <a:gdLst/>
                <a:ahLst/>
                <a:cxnLst/>
                <a:rect r="r" b="b" t="t" l="l"/>
                <a:pathLst>
                  <a:path h="795273" w="406400">
                    <a:moveTo>
                      <a:pt x="203200" y="0"/>
                    </a:moveTo>
                    <a:lnTo>
                      <a:pt x="406400" y="0"/>
                    </a:lnTo>
                    <a:lnTo>
                      <a:pt x="203200" y="795273"/>
                    </a:lnTo>
                    <a:lnTo>
                      <a:pt x="0" y="795273"/>
                    </a:lnTo>
                    <a:lnTo>
                      <a:pt x="203200" y="0"/>
                    </a:lnTo>
                    <a:close/>
                  </a:path>
                </a:pathLst>
              </a:custGeom>
              <a:solidFill>
                <a:srgbClr val="395D91"/>
              </a:solidFill>
            </p:spPr>
          </p:sp>
          <p:sp>
            <p:nvSpPr>
              <p:cNvPr name="TextBox 18" id="18"/>
              <p:cNvSpPr txBox="true"/>
              <p:nvPr/>
            </p:nvSpPr>
            <p:spPr>
              <a:xfrm>
                <a:off x="101600" y="-38100"/>
                <a:ext cx="203200" cy="8333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9" id="19"/>
          <p:cNvGrpSpPr/>
          <p:nvPr/>
        </p:nvGrpSpPr>
        <p:grpSpPr>
          <a:xfrm rot="0">
            <a:off x="-2167748" y="8989860"/>
            <a:ext cx="5816332" cy="9650123"/>
            <a:chOff x="0" y="0"/>
            <a:chExt cx="406400" cy="674275"/>
          </a:xfrm>
        </p:grpSpPr>
        <p:sp>
          <p:nvSpPr>
            <p:cNvPr name="Freeform 20" id="2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21" id="2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5400000">
            <a:off x="15541466" y="-2168827"/>
            <a:ext cx="5816332" cy="5032385"/>
            <a:chOff x="0" y="0"/>
            <a:chExt cx="406400" cy="351624"/>
          </a:xfrm>
        </p:grpSpPr>
        <p:sp>
          <p:nvSpPr>
            <p:cNvPr name="Freeform 23" id="23"/>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24" id="24"/>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028700" y="6110015"/>
            <a:ext cx="10489660" cy="1915803"/>
          </a:xfrm>
          <a:prstGeom prst="rect">
            <a:avLst/>
          </a:prstGeom>
        </p:spPr>
        <p:txBody>
          <a:bodyPr anchor="t" rtlCol="false" tIns="0" lIns="0" bIns="0" rIns="0">
            <a:spAutoFit/>
          </a:bodyPr>
          <a:lstStyle/>
          <a:p>
            <a:pPr algn="l">
              <a:lnSpc>
                <a:spcPts val="3794"/>
              </a:lnSpc>
            </a:pPr>
            <a:r>
              <a:rPr lang="en-US" sz="3358">
                <a:solidFill>
                  <a:srgbClr val="000000"/>
                </a:solidFill>
                <a:latin typeface="Open Sans"/>
                <a:ea typeface="Open Sans"/>
                <a:cs typeface="Open Sans"/>
                <a:sym typeface="Open Sans"/>
              </a:rPr>
              <a:t>Integrantes:</a:t>
            </a:r>
          </a:p>
          <a:p>
            <a:pPr algn="l">
              <a:lnSpc>
                <a:spcPts val="3794"/>
              </a:lnSpc>
            </a:pPr>
            <a:r>
              <a:rPr lang="en-US" sz="3358">
                <a:solidFill>
                  <a:srgbClr val="000000"/>
                </a:solidFill>
                <a:latin typeface="Open Sans"/>
                <a:ea typeface="Open Sans"/>
                <a:cs typeface="Open Sans"/>
                <a:sym typeface="Open Sans"/>
              </a:rPr>
              <a:t>Luciano Sambuceti y José Oporto</a:t>
            </a:r>
          </a:p>
          <a:p>
            <a:pPr algn="l">
              <a:lnSpc>
                <a:spcPts val="3794"/>
              </a:lnSpc>
            </a:pPr>
            <a:r>
              <a:rPr lang="en-US" sz="3358">
                <a:solidFill>
                  <a:srgbClr val="000000"/>
                </a:solidFill>
                <a:latin typeface="Open Sans"/>
                <a:ea typeface="Open Sans"/>
                <a:cs typeface="Open Sans"/>
                <a:sym typeface="Open Sans"/>
              </a:rPr>
              <a:t>Docente:</a:t>
            </a:r>
          </a:p>
          <a:p>
            <a:pPr algn="l">
              <a:lnSpc>
                <a:spcPts val="3794"/>
              </a:lnSpc>
            </a:pPr>
            <a:r>
              <a:rPr lang="en-US" sz="3358">
                <a:solidFill>
                  <a:srgbClr val="000000"/>
                </a:solidFill>
                <a:latin typeface="Open Sans"/>
                <a:ea typeface="Open Sans"/>
                <a:cs typeface="Open Sans"/>
                <a:sym typeface="Open Sans"/>
              </a:rPr>
              <a:t>Juan Alberto Gana Reyes</a:t>
            </a:r>
          </a:p>
        </p:txBody>
      </p:sp>
      <p:sp>
        <p:nvSpPr>
          <p:cNvPr name="TextBox 26" id="26"/>
          <p:cNvSpPr txBox="true"/>
          <p:nvPr/>
        </p:nvSpPr>
        <p:spPr>
          <a:xfrm rot="0">
            <a:off x="1028700" y="7959143"/>
            <a:ext cx="2427089" cy="613410"/>
          </a:xfrm>
          <a:prstGeom prst="rect">
            <a:avLst/>
          </a:prstGeom>
        </p:spPr>
        <p:txBody>
          <a:bodyPr anchor="t" rtlCol="false" tIns="0" lIns="0" bIns="0" rIns="0">
            <a:spAutoFit/>
          </a:bodyPr>
          <a:lstStyle/>
          <a:p>
            <a:pPr algn="ctr" marL="0" indent="0" lvl="0">
              <a:lnSpc>
                <a:spcPts val="5040"/>
              </a:lnSpc>
              <a:spcBef>
                <a:spcPct val="0"/>
              </a:spcBef>
            </a:pPr>
            <a:r>
              <a:rPr lang="en-US" sz="3600">
                <a:solidFill>
                  <a:srgbClr val="000000"/>
                </a:solidFill>
                <a:latin typeface="Open Sans"/>
                <a:ea typeface="Open Sans"/>
                <a:cs typeface="Open Sans"/>
                <a:sym typeface="Open Sans"/>
              </a:rPr>
              <a:t>11/09/2026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5400000">
            <a:off x="14612857" y="2911432"/>
            <a:ext cx="4251743" cy="8109875"/>
            <a:chOff x="0" y="0"/>
            <a:chExt cx="406400" cy="775177"/>
          </a:xfrm>
        </p:grpSpPr>
        <p:sp>
          <p:nvSpPr>
            <p:cNvPr name="Freeform 4" id="4"/>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5" id="5"/>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14612857" y="-2857461"/>
            <a:ext cx="4251743" cy="8109875"/>
            <a:chOff x="0" y="0"/>
            <a:chExt cx="406400" cy="775177"/>
          </a:xfrm>
        </p:grpSpPr>
        <p:sp>
          <p:nvSpPr>
            <p:cNvPr name="Freeform 7" id="7"/>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8" id="8"/>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14127158" y="-245890"/>
            <a:ext cx="4379529" cy="7266262"/>
            <a:chOff x="0" y="0"/>
            <a:chExt cx="406400" cy="674275"/>
          </a:xfrm>
        </p:grpSpPr>
        <p:sp>
          <p:nvSpPr>
            <p:cNvPr name="Freeform 10" id="1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1" id="1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400000">
            <a:off x="14779115" y="4871045"/>
            <a:ext cx="4379529" cy="8570177"/>
            <a:chOff x="0" y="0"/>
            <a:chExt cx="406400" cy="795273"/>
          </a:xfrm>
        </p:grpSpPr>
        <p:sp>
          <p:nvSpPr>
            <p:cNvPr name="Freeform 13" id="13"/>
            <p:cNvSpPr/>
            <p:nvPr/>
          </p:nvSpPr>
          <p:spPr>
            <a:xfrm flipH="false" flipV="false" rot="0">
              <a:off x="0" y="0"/>
              <a:ext cx="406400" cy="795273"/>
            </a:xfrm>
            <a:custGeom>
              <a:avLst/>
              <a:gdLst/>
              <a:ahLst/>
              <a:cxnLst/>
              <a:rect r="r" b="b" t="t" l="l"/>
              <a:pathLst>
                <a:path h="795273" w="406400">
                  <a:moveTo>
                    <a:pt x="203200" y="0"/>
                  </a:moveTo>
                  <a:lnTo>
                    <a:pt x="406400" y="0"/>
                  </a:lnTo>
                  <a:lnTo>
                    <a:pt x="203200" y="795273"/>
                  </a:lnTo>
                  <a:lnTo>
                    <a:pt x="0" y="795273"/>
                  </a:lnTo>
                  <a:lnTo>
                    <a:pt x="203200" y="0"/>
                  </a:lnTo>
                  <a:close/>
                </a:path>
              </a:pathLst>
            </a:custGeom>
            <a:solidFill>
              <a:srgbClr val="395D91"/>
            </a:solidFill>
          </p:spPr>
        </p:sp>
        <p:sp>
          <p:nvSpPr>
            <p:cNvPr name="TextBox 14" id="14"/>
            <p:cNvSpPr txBox="true"/>
            <p:nvPr/>
          </p:nvSpPr>
          <p:spPr>
            <a:xfrm>
              <a:off x="101600" y="-38100"/>
              <a:ext cx="203200" cy="83337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3083235" y="-254880"/>
            <a:ext cx="5816332" cy="10864271"/>
            <a:chOff x="0" y="0"/>
            <a:chExt cx="7755110" cy="14485694"/>
          </a:xfrm>
        </p:grpSpPr>
        <p:grpSp>
          <p:nvGrpSpPr>
            <p:cNvPr name="Group 16" id="16"/>
            <p:cNvGrpSpPr/>
            <p:nvPr/>
          </p:nvGrpSpPr>
          <p:grpSpPr>
            <a:xfrm rot="0">
              <a:off x="0" y="7775847"/>
              <a:ext cx="7755110" cy="6709847"/>
              <a:chOff x="0" y="0"/>
              <a:chExt cx="406400" cy="351624"/>
            </a:xfrm>
          </p:grpSpPr>
          <p:sp>
            <p:nvSpPr>
              <p:cNvPr name="Freeform 17" id="17"/>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18" id="18"/>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0" y="0"/>
              <a:ext cx="7755110" cy="12866830"/>
              <a:chOff x="0" y="0"/>
              <a:chExt cx="406400" cy="674275"/>
            </a:xfrm>
          </p:grpSpPr>
          <p:sp>
            <p:nvSpPr>
              <p:cNvPr name="Freeform 20" id="2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21" id="2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sp>
        <p:nvSpPr>
          <p:cNvPr name="TextBox 22" id="22"/>
          <p:cNvSpPr txBox="true"/>
          <p:nvPr/>
        </p:nvSpPr>
        <p:spPr>
          <a:xfrm rot="0">
            <a:off x="1688479" y="2935924"/>
            <a:ext cx="10859318" cy="6282690"/>
          </a:xfrm>
          <a:prstGeom prst="rect">
            <a:avLst/>
          </a:prstGeom>
        </p:spPr>
        <p:txBody>
          <a:bodyPr anchor="t" rtlCol="false" tIns="0" lIns="0" bIns="0" rIns="0">
            <a:spAutoFit/>
          </a:bodyPr>
          <a:lstStyle/>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Concepto Central: Es una aplicación móvil nativa diseñada para ser el "asistente financiero de bolsillo" de microempresarios, emprendedores y trabajadores independientes.</a:t>
            </a:r>
          </a:p>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¿Qué hace exactamente?</a:t>
            </a:r>
          </a:p>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Centraliza el registro de ventas y gastos de manera rápida y cómoda.</a:t>
            </a:r>
          </a:p>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Transforma los datos diarios en un Dashboard visual fácil de entender, mostrando ganancias, márgenes y progreso hacia metas mensuales establecidas por el usuario.</a:t>
            </a:r>
          </a:p>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Prepar</a:t>
            </a:r>
            <a:r>
              <a:rPr lang="en-US" sz="2400">
                <a:solidFill>
                  <a:srgbClr val="0A162E"/>
                </a:solidFill>
                <a:latin typeface="Glacial Indifference"/>
                <a:ea typeface="Glacial Indifference"/>
                <a:cs typeface="Glacial Indifference"/>
                <a:sym typeface="Glacial Indifference"/>
              </a:rPr>
              <a:t>a el terreno para analizar la salud del negocio mediante Inteligencia Artificial, entregando recomendaciones personalizadas (qué productos se venden más, dónde recortar gastos, etc.).</a:t>
            </a:r>
          </a:p>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El Enfoque: Hacer que la gestión de un negocio deje de ser una tarea aburrida en Excel o cuadernos, convirtiéndola en una experiencia moderna, profesional y 100% accesible desde el celular.</a:t>
            </a:r>
          </a:p>
          <a:p>
            <a:pPr algn="just">
              <a:lnSpc>
                <a:spcPts val="3360"/>
              </a:lnSpc>
            </a:pPr>
          </a:p>
        </p:txBody>
      </p:sp>
      <p:sp>
        <p:nvSpPr>
          <p:cNvPr name="TextBox 23" id="23"/>
          <p:cNvSpPr txBox="true"/>
          <p:nvPr/>
        </p:nvSpPr>
        <p:spPr>
          <a:xfrm rot="0">
            <a:off x="3289509" y="1961610"/>
            <a:ext cx="7446336" cy="685801"/>
          </a:xfrm>
          <a:prstGeom prst="rect">
            <a:avLst/>
          </a:prstGeom>
        </p:spPr>
        <p:txBody>
          <a:bodyPr anchor="t" rtlCol="false" tIns="0" lIns="0" bIns="0" rIns="0">
            <a:spAutoFit/>
          </a:bodyPr>
          <a:lstStyle/>
          <a:p>
            <a:pPr algn="just" marL="0" indent="0" lvl="0">
              <a:lnSpc>
                <a:spcPts val="5100"/>
              </a:lnSpc>
              <a:spcBef>
                <a:spcPct val="0"/>
              </a:spcBef>
            </a:pPr>
            <a:r>
              <a:rPr lang="en-US" sz="5000">
                <a:solidFill>
                  <a:srgbClr val="000000"/>
                </a:solidFill>
                <a:latin typeface="League Spartan"/>
                <a:ea typeface="League Spartan"/>
                <a:cs typeface="League Spartan"/>
                <a:sym typeface="League Spartan"/>
              </a:rPr>
              <a:t>¿Qué es Autonom</a:t>
            </a:r>
            <a:r>
              <a:rPr lang="en-US" sz="5000">
                <a:solidFill>
                  <a:srgbClr val="CB6CE6"/>
                </a:solidFill>
                <a:latin typeface="League Spartan"/>
                <a:ea typeface="League Spartan"/>
                <a:cs typeface="League Spartan"/>
                <a:sym typeface="League Spartan"/>
              </a:rPr>
              <a:t>IA</a:t>
            </a:r>
            <a:r>
              <a:rPr lang="en-US" sz="5000">
                <a:solidFill>
                  <a:srgbClr val="000000"/>
                </a:solidFill>
                <a:latin typeface="League Spartan"/>
                <a:ea typeface="League Spartan"/>
                <a:cs typeface="League Spartan"/>
                <a:sym typeface="League Spartan"/>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4072637" y="-247805"/>
            <a:ext cx="5816332" cy="9264440"/>
            <a:chOff x="0" y="0"/>
            <a:chExt cx="406400" cy="647327"/>
          </a:xfrm>
        </p:grpSpPr>
        <p:sp>
          <p:nvSpPr>
            <p:cNvPr name="Freeform 4" id="4"/>
            <p:cNvSpPr/>
            <p:nvPr/>
          </p:nvSpPr>
          <p:spPr>
            <a:xfrm flipH="false" flipV="false" rot="0">
              <a:off x="0" y="0"/>
              <a:ext cx="406400" cy="647327"/>
            </a:xfrm>
            <a:custGeom>
              <a:avLst/>
              <a:gdLst/>
              <a:ahLst/>
              <a:cxnLst/>
              <a:rect r="r" b="b" t="t" l="l"/>
              <a:pathLst>
                <a:path h="647327" w="406400">
                  <a:moveTo>
                    <a:pt x="203200" y="0"/>
                  </a:moveTo>
                  <a:lnTo>
                    <a:pt x="406400" y="0"/>
                  </a:lnTo>
                  <a:lnTo>
                    <a:pt x="203200" y="647327"/>
                  </a:lnTo>
                  <a:lnTo>
                    <a:pt x="0" y="647327"/>
                  </a:lnTo>
                  <a:lnTo>
                    <a:pt x="203200" y="0"/>
                  </a:lnTo>
                  <a:close/>
                </a:path>
              </a:pathLst>
            </a:custGeom>
            <a:solidFill>
              <a:srgbClr val="395D91"/>
            </a:solidFill>
          </p:spPr>
        </p:sp>
        <p:sp>
          <p:nvSpPr>
            <p:cNvPr name="TextBox 5" id="5"/>
            <p:cNvSpPr txBox="true"/>
            <p:nvPr/>
          </p:nvSpPr>
          <p:spPr>
            <a:xfrm>
              <a:off x="101600" y="-38100"/>
              <a:ext cx="203200" cy="68542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08166" y="723900"/>
            <a:ext cx="5816332" cy="5032385"/>
            <a:chOff x="0" y="0"/>
            <a:chExt cx="406400" cy="351624"/>
          </a:xfrm>
        </p:grpSpPr>
        <p:sp>
          <p:nvSpPr>
            <p:cNvPr name="Freeform 7" id="7"/>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8" id="8"/>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22689" y="970893"/>
            <a:ext cx="25367692" cy="7836986"/>
            <a:chOff x="0" y="0"/>
            <a:chExt cx="3042678" cy="939992"/>
          </a:xfrm>
        </p:grpSpPr>
        <p:sp>
          <p:nvSpPr>
            <p:cNvPr name="Freeform 10" id="10"/>
            <p:cNvSpPr/>
            <p:nvPr/>
          </p:nvSpPr>
          <p:spPr>
            <a:xfrm flipH="false" flipV="false" rot="0">
              <a:off x="0" y="0"/>
              <a:ext cx="3042677" cy="939992"/>
            </a:xfrm>
            <a:custGeom>
              <a:avLst/>
              <a:gdLst/>
              <a:ahLst/>
              <a:cxnLst/>
              <a:rect r="r" b="b" t="t" l="l"/>
              <a:pathLst>
                <a:path h="939992" w="3042677">
                  <a:moveTo>
                    <a:pt x="0" y="0"/>
                  </a:moveTo>
                  <a:lnTo>
                    <a:pt x="3042677" y="0"/>
                  </a:lnTo>
                  <a:lnTo>
                    <a:pt x="3042677" y="939992"/>
                  </a:lnTo>
                  <a:lnTo>
                    <a:pt x="0" y="939992"/>
                  </a:lnTo>
                  <a:close/>
                </a:path>
              </a:pathLst>
            </a:custGeom>
            <a:solidFill>
              <a:srgbClr val="CAE4FC"/>
            </a:solidFill>
          </p:spPr>
        </p:sp>
      </p:grpSp>
      <p:grpSp>
        <p:nvGrpSpPr>
          <p:cNvPr name="Group 11" id="11"/>
          <p:cNvGrpSpPr/>
          <p:nvPr/>
        </p:nvGrpSpPr>
        <p:grpSpPr>
          <a:xfrm rot="-1404001">
            <a:off x="-770793" y="-475515"/>
            <a:ext cx="5816332" cy="11094210"/>
            <a:chOff x="0" y="0"/>
            <a:chExt cx="406400" cy="775177"/>
          </a:xfrm>
        </p:grpSpPr>
        <p:sp>
          <p:nvSpPr>
            <p:cNvPr name="Freeform 12" id="12"/>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13" id="13"/>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0" y="723900"/>
            <a:ext cx="5816332" cy="9650123"/>
            <a:chOff x="0" y="0"/>
            <a:chExt cx="406400" cy="674275"/>
          </a:xfrm>
        </p:grpSpPr>
        <p:sp>
          <p:nvSpPr>
            <p:cNvPr name="Freeform 15" id="15"/>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6" id="16"/>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5816332" y="2320770"/>
            <a:ext cx="11794482" cy="46069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A162E"/>
                </a:solidFill>
                <a:latin typeface="Glacial Indifference"/>
                <a:ea typeface="Glacial Indifference"/>
                <a:cs typeface="Glacial Indifference"/>
                <a:sym typeface="Glacial Indifference"/>
              </a:rPr>
              <a:t>Simplicidad : Un flujo de onboarding que configura el perfil del negocio en 3 simples pasos, eliminando la fricción inicial.</a:t>
            </a:r>
          </a:p>
          <a:p>
            <a:pPr algn="l" marL="518160" indent="-259080" lvl="1">
              <a:lnSpc>
                <a:spcPts val="3359"/>
              </a:lnSpc>
              <a:buFont typeface="Arial"/>
              <a:buChar char="•"/>
            </a:pPr>
            <a:r>
              <a:rPr lang="en-US" sz="2400">
                <a:solidFill>
                  <a:srgbClr val="0A162E"/>
                </a:solidFill>
                <a:latin typeface="Glacial Indifference"/>
                <a:ea typeface="Glacial Indifference"/>
                <a:cs typeface="Glacial Indifference"/>
                <a:sym typeface="Glacial Indifference"/>
              </a:rPr>
              <a:t>Claridad financiera en tiempo real: KPIs automatizados (ganancia neta, margen, ticket promedio) calculados al instante.</a:t>
            </a:r>
          </a:p>
          <a:p>
            <a:pPr algn="l" marL="518160" indent="-259080" lvl="1">
              <a:lnSpc>
                <a:spcPts val="3359"/>
              </a:lnSpc>
              <a:buFont typeface="Arial"/>
              <a:buChar char="•"/>
            </a:pPr>
            <a:r>
              <a:rPr lang="en-US" sz="2400">
                <a:solidFill>
                  <a:srgbClr val="0A162E"/>
                </a:solidFill>
                <a:latin typeface="Glacial Indifference"/>
                <a:ea typeface="Glacial Indifference"/>
                <a:cs typeface="Glacial Indifference"/>
                <a:sym typeface="Glacial Indifference"/>
              </a:rPr>
              <a:t>Acompañamiento inteligente: Integración de un motor de Inteligencia Artificial que no solo muestra números, sino que analiza el comportamiento del negocio para entregar recomendaciones accionables.</a:t>
            </a:r>
          </a:p>
          <a:p>
            <a:pPr algn="l" marL="518160" indent="-259080" lvl="1">
              <a:lnSpc>
                <a:spcPts val="3359"/>
              </a:lnSpc>
              <a:buFont typeface="Arial"/>
              <a:buChar char="•"/>
            </a:pPr>
            <a:r>
              <a:rPr lang="en-US" sz="2400">
                <a:solidFill>
                  <a:srgbClr val="0A162E"/>
                </a:solidFill>
                <a:latin typeface="Glacial Indifference"/>
                <a:ea typeface="Glacial Indifference"/>
                <a:cs typeface="Glacial Indifference"/>
                <a:sym typeface="Glacial Indifference"/>
              </a:rPr>
              <a:t>Arqu</a:t>
            </a:r>
            <a:r>
              <a:rPr lang="en-US" sz="2400">
                <a:solidFill>
                  <a:srgbClr val="0A162E"/>
                </a:solidFill>
                <a:latin typeface="Glacial Indifference"/>
                <a:ea typeface="Glacial Indifference"/>
                <a:cs typeface="Glacial Indifference"/>
                <a:sym typeface="Glacial Indifference"/>
              </a:rPr>
              <a:t>itectura moderna: Sistema escalable preparado para futuras integraciones (importación de datos, conexión a APIs).</a:t>
            </a:r>
          </a:p>
          <a:p>
            <a:pPr algn="l">
              <a:lnSpc>
                <a:spcPts val="3359"/>
              </a:lnSpc>
            </a:pPr>
          </a:p>
          <a:p>
            <a:pPr algn="l">
              <a:lnSpc>
                <a:spcPts val="3359"/>
              </a:lnSpc>
            </a:pPr>
          </a:p>
        </p:txBody>
      </p:sp>
      <p:sp>
        <p:nvSpPr>
          <p:cNvPr name="TextBox 18" id="18"/>
          <p:cNvSpPr txBox="true"/>
          <p:nvPr/>
        </p:nvSpPr>
        <p:spPr>
          <a:xfrm rot="0">
            <a:off x="6980803" y="1277422"/>
            <a:ext cx="8171383" cy="863600"/>
          </a:xfrm>
          <a:prstGeom prst="rect">
            <a:avLst/>
          </a:prstGeom>
        </p:spPr>
        <p:txBody>
          <a:bodyPr anchor="t" rtlCol="false" tIns="0" lIns="0" bIns="0" rIns="0">
            <a:spAutoFit/>
          </a:bodyPr>
          <a:lstStyle/>
          <a:p>
            <a:pPr algn="r">
              <a:lnSpc>
                <a:spcPts val="7000"/>
              </a:lnSpc>
            </a:pPr>
            <a:r>
              <a:rPr lang="en-US" sz="5000">
                <a:solidFill>
                  <a:srgbClr val="0A162E"/>
                </a:solidFill>
                <a:latin typeface="League Spartan"/>
                <a:ea typeface="League Spartan"/>
                <a:cs typeface="League Spartan"/>
                <a:sym typeface="League Spartan"/>
              </a:rPr>
              <a:t>VALOR DEL PROYECTO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aphicFrame>
        <p:nvGraphicFramePr>
          <p:cNvPr name="Table 3" id="3"/>
          <p:cNvGraphicFramePr>
            <a:graphicFrameLocks noGrp="true"/>
          </p:cNvGraphicFramePr>
          <p:nvPr/>
        </p:nvGraphicFramePr>
        <p:xfrm>
          <a:off x="4680413" y="1028700"/>
          <a:ext cx="9422586" cy="1104900"/>
        </p:xfrm>
        <a:graphic>
          <a:graphicData uri="http://schemas.openxmlformats.org/drawingml/2006/table">
            <a:tbl>
              <a:tblPr/>
              <a:tblGrid>
                <a:gridCol w="9422586"/>
              </a:tblGrid>
              <a:tr h="931501">
                <a:tc>
                  <a:txBody>
                    <a:bodyPr anchor="t" rtlCol="false"/>
                    <a:lstStyle/>
                    <a:p>
                      <a:pPr algn="l" marL="0" indent="0" lvl="0">
                        <a:lnSpc>
                          <a:spcPts val="5650"/>
                        </a:lnSpc>
                        <a:spcBef>
                          <a:spcPct val="0"/>
                        </a:spcBef>
                        <a:defRPr/>
                      </a:pPr>
                      <a:r>
                        <a:rPr lang="en-US" sz="5000">
                          <a:solidFill>
                            <a:srgbClr val="000000"/>
                          </a:solidFill>
                          <a:latin typeface="League Spartan"/>
                          <a:ea typeface="League Spartan"/>
                          <a:cs typeface="League Spartan"/>
                          <a:sym typeface="League Spartan"/>
                        </a:rPr>
                        <a:t>¿Para quién es Autonom</a:t>
                      </a:r>
                      <a:r>
                        <a:rPr lang="en-US" sz="5000">
                          <a:solidFill>
                            <a:srgbClr val="CB6CE6"/>
                          </a:solidFill>
                          <a:latin typeface="League Spartan"/>
                          <a:ea typeface="League Spartan"/>
                          <a:cs typeface="League Spartan"/>
                          <a:sym typeface="League Spartan"/>
                        </a:rPr>
                        <a:t>IA</a:t>
                      </a:r>
                      <a:r>
                        <a:rPr lang="en-US" sz="5000">
                          <a:solidFill>
                            <a:srgbClr val="000000"/>
                          </a:solidFill>
                          <a:latin typeface="League Spartan"/>
                          <a:ea typeface="League Spartan"/>
                          <a:cs typeface="League Spartan"/>
                          <a:sym typeface="League Spartan"/>
                        </a:rPr>
                        <a:t>?</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204892" y="2519806"/>
            <a:ext cx="13878216" cy="4098290"/>
          </a:xfrm>
          <a:prstGeom prst="rect">
            <a:avLst/>
          </a:prstGeom>
        </p:spPr>
        <p:txBody>
          <a:bodyPr anchor="t" rtlCol="false" tIns="0" lIns="0" bIns="0" rIns="0">
            <a:spAutoFit/>
          </a:bodyPr>
          <a:lstStyle/>
          <a:p>
            <a:pPr algn="l" marL="626107" indent="-313054" lvl="1">
              <a:lnSpc>
                <a:spcPts val="4059"/>
              </a:lnSpc>
              <a:spcBef>
                <a:spcPct val="0"/>
              </a:spcBef>
              <a:buFont typeface="Arial"/>
              <a:buChar char="•"/>
            </a:pPr>
            <a:r>
              <a:rPr lang="en-US" sz="2899">
                <a:solidFill>
                  <a:srgbClr val="000000"/>
                </a:solidFill>
                <a:latin typeface="Glacial Indifference"/>
                <a:ea typeface="Glacial Indifference"/>
                <a:cs typeface="Glacial Indifference"/>
                <a:sym typeface="Glacial Indifference"/>
              </a:rPr>
              <a:t>Emprendedor</a:t>
            </a:r>
            <a:r>
              <a:rPr lang="en-US" sz="2899" strike="noStrike" u="none">
                <a:solidFill>
                  <a:srgbClr val="000000"/>
                </a:solidFill>
                <a:latin typeface="Glacial Indifference"/>
                <a:ea typeface="Glacial Indifference"/>
                <a:cs typeface="Glacial Indifference"/>
                <a:sym typeface="Glacial Indifference"/>
              </a:rPr>
              <a:t>es de venta de productos: Tiendas de Instagram, pastelerías (como nuestro caso de prueba "Dulce Hogar"), bazares o artesanos.</a:t>
            </a:r>
          </a:p>
          <a:p>
            <a:pPr algn="l" marL="626107" indent="-313054" lvl="1">
              <a:lnSpc>
                <a:spcPts val="4059"/>
              </a:lnSpc>
              <a:spcBef>
                <a:spcPct val="0"/>
              </a:spcBef>
              <a:buFont typeface="Arial"/>
              <a:buChar char="•"/>
            </a:pPr>
            <a:r>
              <a:rPr lang="en-US" sz="2899" strike="noStrike" u="none">
                <a:solidFill>
                  <a:srgbClr val="000000"/>
                </a:solidFill>
                <a:latin typeface="Glacial Indifference"/>
                <a:ea typeface="Glacial Indifference"/>
                <a:cs typeface="Glacial Indifference"/>
                <a:sym typeface="Glacial Indifference"/>
              </a:rPr>
              <a:t>P</a:t>
            </a:r>
            <a:r>
              <a:rPr lang="en-US" sz="2899" strike="noStrike" u="none">
                <a:solidFill>
                  <a:srgbClr val="000000"/>
                </a:solidFill>
                <a:latin typeface="Glacial Indifference"/>
                <a:ea typeface="Glacial Indifference"/>
                <a:cs typeface="Glacial Indifference"/>
                <a:sym typeface="Glacial Indifference"/>
              </a:rPr>
              <a:t>roveedores de servicios: Trabajadores independientes, freelancers, peluquerías, talleres.</a:t>
            </a:r>
          </a:p>
          <a:p>
            <a:pPr algn="l" marL="626107" indent="-313054" lvl="1">
              <a:lnSpc>
                <a:spcPts val="4059"/>
              </a:lnSpc>
              <a:spcBef>
                <a:spcPct val="0"/>
              </a:spcBef>
              <a:buFont typeface="Arial"/>
              <a:buChar char="•"/>
            </a:pPr>
            <a:r>
              <a:rPr lang="en-US" sz="2899" strike="noStrike" u="none">
                <a:solidFill>
                  <a:srgbClr val="000000"/>
                </a:solidFill>
                <a:latin typeface="Glacial Indifference"/>
                <a:ea typeface="Glacial Indifference"/>
                <a:cs typeface="Glacial Indifference"/>
                <a:sym typeface="Glacial Indifference"/>
              </a:rPr>
              <a:t>Perfi</a:t>
            </a:r>
            <a:r>
              <a:rPr lang="en-US" sz="2899" strike="noStrike" u="none">
                <a:solidFill>
                  <a:srgbClr val="000000"/>
                </a:solidFill>
                <a:latin typeface="Glacial Indifference"/>
                <a:ea typeface="Glacial Indifference"/>
                <a:cs typeface="Glacial Indifference"/>
                <a:sym typeface="Glacial Indifference"/>
              </a:rPr>
              <a:t>l tecnológico: Personas que usan el celular todo el día, pero que no son expertos en contabilidad ni finanzas y buscan una curva de aprendizaje casi nula.</a:t>
            </a:r>
          </a:p>
          <a:p>
            <a:pPr algn="l">
              <a:lnSpc>
                <a:spcPts val="4059"/>
              </a:lnSpc>
              <a:spcBef>
                <a:spcPct val="0"/>
              </a:spcBef>
            </a:pPr>
          </a:p>
          <a:p>
            <a:pPr algn="l">
              <a:lnSpc>
                <a:spcPts val="4059"/>
              </a:lnSpc>
              <a:spcBef>
                <a:spcPct val="0"/>
              </a:spcBef>
            </a:pPr>
          </a:p>
        </p:txBody>
      </p:sp>
      <p:grpSp>
        <p:nvGrpSpPr>
          <p:cNvPr name="Group 5" id="5"/>
          <p:cNvGrpSpPr/>
          <p:nvPr/>
        </p:nvGrpSpPr>
        <p:grpSpPr>
          <a:xfrm rot="-5400000">
            <a:off x="13603807" y="7524419"/>
            <a:ext cx="5816332" cy="5032385"/>
            <a:chOff x="0" y="0"/>
            <a:chExt cx="406400" cy="351624"/>
          </a:xfrm>
        </p:grpSpPr>
        <p:sp>
          <p:nvSpPr>
            <p:cNvPr name="Freeform 6" id="6"/>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7" id="7"/>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0554773" y="5461939"/>
            <a:ext cx="5816332" cy="9650123"/>
            <a:chOff x="0" y="0"/>
            <a:chExt cx="406400" cy="674275"/>
          </a:xfrm>
        </p:grpSpPr>
        <p:sp>
          <p:nvSpPr>
            <p:cNvPr name="Freeform 9" id="9"/>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0" id="10"/>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356021" y="5461939"/>
            <a:ext cx="5816332" cy="9650123"/>
            <a:chOff x="0" y="0"/>
            <a:chExt cx="406400" cy="674275"/>
          </a:xfrm>
        </p:grpSpPr>
        <p:sp>
          <p:nvSpPr>
            <p:cNvPr name="Freeform 12" id="12"/>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3" id="13"/>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3213519" y="7770807"/>
            <a:ext cx="5816332" cy="5032385"/>
            <a:chOff x="0" y="0"/>
            <a:chExt cx="406400" cy="351624"/>
          </a:xfrm>
        </p:grpSpPr>
        <p:sp>
          <p:nvSpPr>
            <p:cNvPr name="Freeform 15" id="15"/>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16" id="16"/>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5400000">
            <a:off x="16163960" y="1660543"/>
            <a:ext cx="4251743" cy="8109875"/>
            <a:chOff x="0" y="0"/>
            <a:chExt cx="406400" cy="775177"/>
          </a:xfrm>
        </p:grpSpPr>
        <p:sp>
          <p:nvSpPr>
            <p:cNvPr name="Freeform 4" id="4"/>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5" id="5"/>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16163960" y="-2807425"/>
            <a:ext cx="4251743" cy="8109875"/>
            <a:chOff x="0" y="0"/>
            <a:chExt cx="406400" cy="775177"/>
          </a:xfrm>
        </p:grpSpPr>
        <p:sp>
          <p:nvSpPr>
            <p:cNvPr name="Freeform 7" id="7"/>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8" id="8"/>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15678260" y="-195854"/>
            <a:ext cx="4379529" cy="7266262"/>
            <a:chOff x="0" y="0"/>
            <a:chExt cx="406400" cy="674275"/>
          </a:xfrm>
        </p:grpSpPr>
        <p:sp>
          <p:nvSpPr>
            <p:cNvPr name="Freeform 10" id="1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1" id="1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400000">
            <a:off x="16330218" y="3812147"/>
            <a:ext cx="4379529" cy="8570177"/>
            <a:chOff x="0" y="0"/>
            <a:chExt cx="406400" cy="795273"/>
          </a:xfrm>
        </p:grpSpPr>
        <p:sp>
          <p:nvSpPr>
            <p:cNvPr name="Freeform 13" id="13"/>
            <p:cNvSpPr/>
            <p:nvPr/>
          </p:nvSpPr>
          <p:spPr>
            <a:xfrm flipH="false" flipV="false" rot="0">
              <a:off x="0" y="0"/>
              <a:ext cx="406400" cy="795273"/>
            </a:xfrm>
            <a:custGeom>
              <a:avLst/>
              <a:gdLst/>
              <a:ahLst/>
              <a:cxnLst/>
              <a:rect r="r" b="b" t="t" l="l"/>
              <a:pathLst>
                <a:path h="795273" w="406400">
                  <a:moveTo>
                    <a:pt x="203200" y="0"/>
                  </a:moveTo>
                  <a:lnTo>
                    <a:pt x="406400" y="0"/>
                  </a:lnTo>
                  <a:lnTo>
                    <a:pt x="203200" y="795273"/>
                  </a:lnTo>
                  <a:lnTo>
                    <a:pt x="0" y="795273"/>
                  </a:lnTo>
                  <a:lnTo>
                    <a:pt x="203200" y="0"/>
                  </a:lnTo>
                  <a:close/>
                </a:path>
              </a:pathLst>
            </a:custGeom>
            <a:solidFill>
              <a:srgbClr val="395D91"/>
            </a:solidFill>
          </p:spPr>
        </p:sp>
        <p:sp>
          <p:nvSpPr>
            <p:cNvPr name="TextBox 14" id="14"/>
            <p:cNvSpPr txBox="true"/>
            <p:nvPr/>
          </p:nvSpPr>
          <p:spPr>
            <a:xfrm>
              <a:off x="101600" y="-38100"/>
              <a:ext cx="203200" cy="83337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3083235" y="-254880"/>
            <a:ext cx="5816332" cy="10864271"/>
            <a:chOff x="0" y="0"/>
            <a:chExt cx="7755110" cy="14485694"/>
          </a:xfrm>
        </p:grpSpPr>
        <p:grpSp>
          <p:nvGrpSpPr>
            <p:cNvPr name="Group 16" id="16"/>
            <p:cNvGrpSpPr/>
            <p:nvPr/>
          </p:nvGrpSpPr>
          <p:grpSpPr>
            <a:xfrm rot="0">
              <a:off x="0" y="7775847"/>
              <a:ext cx="7755110" cy="6709847"/>
              <a:chOff x="0" y="0"/>
              <a:chExt cx="406400" cy="351624"/>
            </a:xfrm>
          </p:grpSpPr>
          <p:sp>
            <p:nvSpPr>
              <p:cNvPr name="Freeform 17" id="17"/>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18" id="18"/>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0" y="0"/>
              <a:ext cx="7755110" cy="12866830"/>
              <a:chOff x="0" y="0"/>
              <a:chExt cx="406400" cy="674275"/>
            </a:xfrm>
          </p:grpSpPr>
          <p:sp>
            <p:nvSpPr>
              <p:cNvPr name="Freeform 20" id="2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21" id="2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sp>
        <p:nvSpPr>
          <p:cNvPr name="Freeform 22" id="22"/>
          <p:cNvSpPr/>
          <p:nvPr/>
        </p:nvSpPr>
        <p:spPr>
          <a:xfrm flipH="false" flipV="false" rot="0">
            <a:off x="2087973" y="1766671"/>
            <a:ext cx="12146921" cy="7491629"/>
          </a:xfrm>
          <a:custGeom>
            <a:avLst/>
            <a:gdLst/>
            <a:ahLst/>
            <a:cxnLst/>
            <a:rect r="r" b="b" t="t" l="l"/>
            <a:pathLst>
              <a:path h="7491629" w="12146921">
                <a:moveTo>
                  <a:pt x="0" y="0"/>
                </a:moveTo>
                <a:lnTo>
                  <a:pt x="12146921" y="0"/>
                </a:lnTo>
                <a:lnTo>
                  <a:pt x="12146921" y="7491629"/>
                </a:lnTo>
                <a:lnTo>
                  <a:pt x="0" y="7491629"/>
                </a:lnTo>
                <a:lnTo>
                  <a:pt x="0" y="0"/>
                </a:lnTo>
                <a:close/>
              </a:path>
            </a:pathLst>
          </a:custGeom>
          <a:blipFill>
            <a:blip r:embed="rId3"/>
            <a:stretch>
              <a:fillRect l="0" t="0" r="0" b="0"/>
            </a:stretch>
          </a:blipFill>
        </p:spPr>
      </p:sp>
      <p:sp>
        <p:nvSpPr>
          <p:cNvPr name="TextBox 23" id="23"/>
          <p:cNvSpPr txBox="true"/>
          <p:nvPr/>
        </p:nvSpPr>
        <p:spPr>
          <a:xfrm rot="0">
            <a:off x="1688479" y="2935924"/>
            <a:ext cx="10859318" cy="834390"/>
          </a:xfrm>
          <a:prstGeom prst="rect">
            <a:avLst/>
          </a:prstGeom>
        </p:spPr>
        <p:txBody>
          <a:bodyPr anchor="t" rtlCol="false" tIns="0" lIns="0" bIns="0" rIns="0">
            <a:spAutoFit/>
          </a:bodyPr>
          <a:lstStyle/>
          <a:p>
            <a:pPr algn="just" marL="518163" indent="-259082" lvl="1">
              <a:lnSpc>
                <a:spcPts val="3360"/>
              </a:lnSpc>
              <a:buFont typeface="Arial"/>
              <a:buChar char="•"/>
            </a:pPr>
            <a:r>
              <a:rPr lang="en-US" sz="2400">
                <a:solidFill>
                  <a:srgbClr val="0A162E"/>
                </a:solidFill>
                <a:latin typeface="Glacial Indifference"/>
                <a:ea typeface="Glacial Indifference"/>
                <a:cs typeface="Glacial Indifference"/>
                <a:sym typeface="Glacial Indifference"/>
              </a:rPr>
              <a:t>-</a:t>
            </a:r>
          </a:p>
          <a:p>
            <a:pPr algn="just">
              <a:lnSpc>
                <a:spcPts val="3360"/>
              </a:lnSpc>
            </a:pPr>
          </a:p>
        </p:txBody>
      </p:sp>
      <p:sp>
        <p:nvSpPr>
          <p:cNvPr name="TextBox 24" id="24"/>
          <p:cNvSpPr txBox="true"/>
          <p:nvPr/>
        </p:nvSpPr>
        <p:spPr>
          <a:xfrm rot="0">
            <a:off x="3573322" y="258730"/>
            <a:ext cx="7446336" cy="685801"/>
          </a:xfrm>
          <a:prstGeom prst="rect">
            <a:avLst/>
          </a:prstGeom>
        </p:spPr>
        <p:txBody>
          <a:bodyPr anchor="t" rtlCol="false" tIns="0" lIns="0" bIns="0" rIns="0">
            <a:spAutoFit/>
          </a:bodyPr>
          <a:lstStyle/>
          <a:p>
            <a:pPr algn="just" marL="0" indent="0" lvl="0">
              <a:lnSpc>
                <a:spcPts val="5100"/>
              </a:lnSpc>
              <a:spcBef>
                <a:spcPct val="0"/>
              </a:spcBef>
            </a:pPr>
            <a:r>
              <a:rPr lang="en-US" sz="5000">
                <a:solidFill>
                  <a:srgbClr val="000000"/>
                </a:solidFill>
                <a:latin typeface="League Spartan"/>
                <a:ea typeface="League Spartan"/>
                <a:cs typeface="League Spartan"/>
                <a:sym typeface="League Spartan"/>
              </a:rPr>
              <a:t>Arquitectura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5400000">
            <a:off x="16163960" y="1660543"/>
            <a:ext cx="4251743" cy="8109875"/>
            <a:chOff x="0" y="0"/>
            <a:chExt cx="406400" cy="775177"/>
          </a:xfrm>
        </p:grpSpPr>
        <p:sp>
          <p:nvSpPr>
            <p:cNvPr name="Freeform 4" id="4"/>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5" id="5"/>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16163960" y="-2807425"/>
            <a:ext cx="4251743" cy="8109875"/>
            <a:chOff x="0" y="0"/>
            <a:chExt cx="406400" cy="775177"/>
          </a:xfrm>
        </p:grpSpPr>
        <p:sp>
          <p:nvSpPr>
            <p:cNvPr name="Freeform 7" id="7"/>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8" id="8"/>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15678260" y="-195854"/>
            <a:ext cx="4379529" cy="7266262"/>
            <a:chOff x="0" y="0"/>
            <a:chExt cx="406400" cy="674275"/>
          </a:xfrm>
        </p:grpSpPr>
        <p:sp>
          <p:nvSpPr>
            <p:cNvPr name="Freeform 10" id="1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1" id="1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400000">
            <a:off x="16330218" y="3812147"/>
            <a:ext cx="4379529" cy="8570177"/>
            <a:chOff x="0" y="0"/>
            <a:chExt cx="406400" cy="795273"/>
          </a:xfrm>
        </p:grpSpPr>
        <p:sp>
          <p:nvSpPr>
            <p:cNvPr name="Freeform 13" id="13"/>
            <p:cNvSpPr/>
            <p:nvPr/>
          </p:nvSpPr>
          <p:spPr>
            <a:xfrm flipH="false" flipV="false" rot="0">
              <a:off x="0" y="0"/>
              <a:ext cx="406400" cy="795273"/>
            </a:xfrm>
            <a:custGeom>
              <a:avLst/>
              <a:gdLst/>
              <a:ahLst/>
              <a:cxnLst/>
              <a:rect r="r" b="b" t="t" l="l"/>
              <a:pathLst>
                <a:path h="795273" w="406400">
                  <a:moveTo>
                    <a:pt x="203200" y="0"/>
                  </a:moveTo>
                  <a:lnTo>
                    <a:pt x="406400" y="0"/>
                  </a:lnTo>
                  <a:lnTo>
                    <a:pt x="203200" y="795273"/>
                  </a:lnTo>
                  <a:lnTo>
                    <a:pt x="0" y="795273"/>
                  </a:lnTo>
                  <a:lnTo>
                    <a:pt x="203200" y="0"/>
                  </a:lnTo>
                  <a:close/>
                </a:path>
              </a:pathLst>
            </a:custGeom>
            <a:solidFill>
              <a:srgbClr val="395D91"/>
            </a:solidFill>
          </p:spPr>
        </p:sp>
        <p:sp>
          <p:nvSpPr>
            <p:cNvPr name="TextBox 14" id="14"/>
            <p:cNvSpPr txBox="true"/>
            <p:nvPr/>
          </p:nvSpPr>
          <p:spPr>
            <a:xfrm>
              <a:off x="101600" y="-38100"/>
              <a:ext cx="203200" cy="83337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3083235" y="-254880"/>
            <a:ext cx="5816332" cy="10864271"/>
            <a:chOff x="0" y="0"/>
            <a:chExt cx="7755110" cy="14485694"/>
          </a:xfrm>
        </p:grpSpPr>
        <p:grpSp>
          <p:nvGrpSpPr>
            <p:cNvPr name="Group 16" id="16"/>
            <p:cNvGrpSpPr/>
            <p:nvPr/>
          </p:nvGrpSpPr>
          <p:grpSpPr>
            <a:xfrm rot="0">
              <a:off x="0" y="7775847"/>
              <a:ext cx="7755110" cy="6709847"/>
              <a:chOff x="0" y="0"/>
              <a:chExt cx="406400" cy="351624"/>
            </a:xfrm>
          </p:grpSpPr>
          <p:sp>
            <p:nvSpPr>
              <p:cNvPr name="Freeform 17" id="17"/>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18" id="18"/>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0" y="0"/>
              <a:ext cx="7755110" cy="12866830"/>
              <a:chOff x="0" y="0"/>
              <a:chExt cx="406400" cy="674275"/>
            </a:xfrm>
          </p:grpSpPr>
          <p:sp>
            <p:nvSpPr>
              <p:cNvPr name="Freeform 20" id="20"/>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21" id="21"/>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sp>
        <p:nvSpPr>
          <p:cNvPr name="Freeform 22" id="22"/>
          <p:cNvSpPr/>
          <p:nvPr/>
        </p:nvSpPr>
        <p:spPr>
          <a:xfrm flipH="false" flipV="false" rot="0">
            <a:off x="1028700" y="3874205"/>
            <a:ext cx="13069764" cy="3682550"/>
          </a:xfrm>
          <a:custGeom>
            <a:avLst/>
            <a:gdLst/>
            <a:ahLst/>
            <a:cxnLst/>
            <a:rect r="r" b="b" t="t" l="l"/>
            <a:pathLst>
              <a:path h="3682550" w="13069764">
                <a:moveTo>
                  <a:pt x="0" y="0"/>
                </a:moveTo>
                <a:lnTo>
                  <a:pt x="13069764" y="0"/>
                </a:lnTo>
                <a:lnTo>
                  <a:pt x="13069764" y="3682550"/>
                </a:lnTo>
                <a:lnTo>
                  <a:pt x="0" y="3682550"/>
                </a:lnTo>
                <a:lnTo>
                  <a:pt x="0" y="0"/>
                </a:lnTo>
                <a:close/>
              </a:path>
            </a:pathLst>
          </a:custGeom>
          <a:blipFill>
            <a:blip r:embed="rId3"/>
            <a:stretch>
              <a:fillRect l="0" t="0" r="0" b="0"/>
            </a:stretch>
          </a:blipFill>
        </p:spPr>
      </p:sp>
      <p:sp>
        <p:nvSpPr>
          <p:cNvPr name="Freeform 23" id="23"/>
          <p:cNvSpPr/>
          <p:nvPr/>
        </p:nvSpPr>
        <p:spPr>
          <a:xfrm flipH="false" flipV="false" rot="0">
            <a:off x="1212542" y="7731263"/>
            <a:ext cx="12702079" cy="2265576"/>
          </a:xfrm>
          <a:custGeom>
            <a:avLst/>
            <a:gdLst/>
            <a:ahLst/>
            <a:cxnLst/>
            <a:rect r="r" b="b" t="t" l="l"/>
            <a:pathLst>
              <a:path h="2265576" w="12702079">
                <a:moveTo>
                  <a:pt x="0" y="0"/>
                </a:moveTo>
                <a:lnTo>
                  <a:pt x="12702080" y="0"/>
                </a:lnTo>
                <a:lnTo>
                  <a:pt x="12702080" y="2265576"/>
                </a:lnTo>
                <a:lnTo>
                  <a:pt x="0" y="2265576"/>
                </a:lnTo>
                <a:lnTo>
                  <a:pt x="0" y="0"/>
                </a:lnTo>
                <a:close/>
              </a:path>
            </a:pathLst>
          </a:custGeom>
          <a:blipFill>
            <a:blip r:embed="rId4"/>
            <a:stretch>
              <a:fillRect l="0" t="0" r="0" b="0"/>
            </a:stretch>
          </a:blipFill>
        </p:spPr>
      </p:sp>
      <p:sp>
        <p:nvSpPr>
          <p:cNvPr name="TextBox 24" id="24"/>
          <p:cNvSpPr txBox="true"/>
          <p:nvPr/>
        </p:nvSpPr>
        <p:spPr>
          <a:xfrm rot="0">
            <a:off x="3573322" y="258730"/>
            <a:ext cx="7446336" cy="1333501"/>
          </a:xfrm>
          <a:prstGeom prst="rect">
            <a:avLst/>
          </a:prstGeom>
        </p:spPr>
        <p:txBody>
          <a:bodyPr anchor="t" rtlCol="false" tIns="0" lIns="0" bIns="0" rIns="0">
            <a:spAutoFit/>
          </a:bodyPr>
          <a:lstStyle/>
          <a:p>
            <a:pPr algn="just">
              <a:lnSpc>
                <a:spcPts val="5100"/>
              </a:lnSpc>
            </a:pPr>
            <a:r>
              <a:rPr lang="en-US" sz="5000">
                <a:solidFill>
                  <a:srgbClr val="000000"/>
                </a:solidFill>
                <a:latin typeface="League Spartan"/>
                <a:ea typeface="League Spartan"/>
                <a:cs typeface="League Spartan"/>
                <a:sym typeface="League Spartan"/>
              </a:rPr>
              <a:t>Metodologia </a:t>
            </a:r>
          </a:p>
          <a:p>
            <a:pPr algn="just" marL="0" indent="0" lvl="0">
              <a:lnSpc>
                <a:spcPts val="5100"/>
              </a:lnSpc>
              <a:spcBef>
                <a:spcPct val="0"/>
              </a:spcBef>
            </a:pPr>
            <a:r>
              <a:rPr lang="en-US" sz="5000">
                <a:solidFill>
                  <a:srgbClr val="000000"/>
                </a:solidFill>
                <a:latin typeface="League Spartan"/>
                <a:ea typeface="League Spartan"/>
                <a:cs typeface="League Spartan"/>
                <a:sym typeface="League Spartan"/>
              </a:rPr>
              <a:t>Scrum</a:t>
            </a:r>
          </a:p>
        </p:txBody>
      </p:sp>
      <p:sp>
        <p:nvSpPr>
          <p:cNvPr name="TextBox 25" id="25"/>
          <p:cNvSpPr txBox="true"/>
          <p:nvPr/>
        </p:nvSpPr>
        <p:spPr>
          <a:xfrm rot="0">
            <a:off x="3252137" y="1950156"/>
            <a:ext cx="9278654" cy="13233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Glacial Indifference"/>
                <a:ea typeface="Glacial Indifference"/>
                <a:cs typeface="Glacial Indifference"/>
                <a:sym typeface="Glacial Indifference"/>
              </a:rPr>
              <a:t>Como grupo, escogimos la metodología Scrum para el proyecto AutonomIA. Nos organizamos mediante una carpeta compartida en Google Drive, donde subimos los registros de las reuniones diarias (dailies), el Product Backlog, las retrospectivas y otros documentos del proyecto.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5987603" y="350567"/>
            <a:ext cx="4999475" cy="9063564"/>
          </a:xfrm>
          <a:custGeom>
            <a:avLst/>
            <a:gdLst/>
            <a:ahLst/>
            <a:cxnLst/>
            <a:rect r="r" b="b" t="t" l="l"/>
            <a:pathLst>
              <a:path h="9063564" w="4999475">
                <a:moveTo>
                  <a:pt x="0" y="0"/>
                </a:moveTo>
                <a:lnTo>
                  <a:pt x="4999475" y="0"/>
                </a:lnTo>
                <a:lnTo>
                  <a:pt x="4999475" y="9063565"/>
                </a:lnTo>
                <a:lnTo>
                  <a:pt x="0" y="9063565"/>
                </a:lnTo>
                <a:lnTo>
                  <a:pt x="0" y="0"/>
                </a:lnTo>
                <a:close/>
              </a:path>
            </a:pathLst>
          </a:custGeom>
          <a:blipFill>
            <a:blip r:embed="rId3"/>
            <a:stretch>
              <a:fillRect l="0" t="0" r="0" b="0"/>
            </a:stretch>
          </a:blipFill>
        </p:spPr>
      </p:sp>
      <p:sp>
        <p:nvSpPr>
          <p:cNvPr name="TextBox 4" id="4"/>
          <p:cNvSpPr txBox="true"/>
          <p:nvPr/>
        </p:nvSpPr>
        <p:spPr>
          <a:xfrm rot="0">
            <a:off x="329671" y="575131"/>
            <a:ext cx="4677613" cy="685801"/>
          </a:xfrm>
          <a:prstGeom prst="rect">
            <a:avLst/>
          </a:prstGeom>
        </p:spPr>
        <p:txBody>
          <a:bodyPr anchor="t" rtlCol="false" tIns="0" lIns="0" bIns="0" rIns="0">
            <a:spAutoFit/>
          </a:bodyPr>
          <a:lstStyle/>
          <a:p>
            <a:pPr algn="l" marL="0" indent="0" lvl="0">
              <a:lnSpc>
                <a:spcPts val="5100"/>
              </a:lnSpc>
              <a:spcBef>
                <a:spcPct val="0"/>
              </a:spcBef>
            </a:pPr>
            <a:r>
              <a:rPr lang="en-US" sz="5000">
                <a:solidFill>
                  <a:srgbClr val="000000"/>
                </a:solidFill>
                <a:latin typeface="League Spartan"/>
                <a:ea typeface="League Spartan"/>
                <a:cs typeface="League Spartan"/>
                <a:sym typeface="League Spartan"/>
              </a:rPr>
              <a:t>Mockups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514477" y="909006"/>
            <a:ext cx="3966032" cy="8654313"/>
          </a:xfrm>
          <a:custGeom>
            <a:avLst/>
            <a:gdLst/>
            <a:ahLst/>
            <a:cxnLst/>
            <a:rect r="r" b="b" t="t" l="l"/>
            <a:pathLst>
              <a:path h="8654313" w="3966032">
                <a:moveTo>
                  <a:pt x="0" y="0"/>
                </a:moveTo>
                <a:lnTo>
                  <a:pt x="3966032" y="0"/>
                </a:lnTo>
                <a:lnTo>
                  <a:pt x="3966032" y="8654313"/>
                </a:lnTo>
                <a:lnTo>
                  <a:pt x="0" y="8654313"/>
                </a:lnTo>
                <a:lnTo>
                  <a:pt x="0" y="0"/>
                </a:lnTo>
                <a:close/>
              </a:path>
            </a:pathLst>
          </a:custGeom>
          <a:blipFill>
            <a:blip r:embed="rId3"/>
            <a:stretch>
              <a:fillRect l="0" t="0" r="0" b="0"/>
            </a:stretch>
          </a:blipFill>
        </p:spPr>
      </p:sp>
      <p:sp>
        <p:nvSpPr>
          <p:cNvPr name="Freeform 4" id="4"/>
          <p:cNvSpPr/>
          <p:nvPr/>
        </p:nvSpPr>
        <p:spPr>
          <a:xfrm flipH="false" flipV="false" rot="0">
            <a:off x="4741359" y="951589"/>
            <a:ext cx="4185508" cy="8569147"/>
          </a:xfrm>
          <a:custGeom>
            <a:avLst/>
            <a:gdLst/>
            <a:ahLst/>
            <a:cxnLst/>
            <a:rect r="r" b="b" t="t" l="l"/>
            <a:pathLst>
              <a:path h="8569147" w="4185508">
                <a:moveTo>
                  <a:pt x="0" y="0"/>
                </a:moveTo>
                <a:lnTo>
                  <a:pt x="4185508" y="0"/>
                </a:lnTo>
                <a:lnTo>
                  <a:pt x="4185508" y="8569147"/>
                </a:lnTo>
                <a:lnTo>
                  <a:pt x="0" y="8569147"/>
                </a:lnTo>
                <a:lnTo>
                  <a:pt x="0" y="0"/>
                </a:lnTo>
                <a:close/>
              </a:path>
            </a:pathLst>
          </a:custGeom>
          <a:blipFill>
            <a:blip r:embed="rId4"/>
            <a:stretch>
              <a:fillRect l="0" t="0" r="0" b="0"/>
            </a:stretch>
          </a:blipFill>
        </p:spPr>
      </p:sp>
      <p:sp>
        <p:nvSpPr>
          <p:cNvPr name="Freeform 5" id="5"/>
          <p:cNvSpPr/>
          <p:nvPr/>
        </p:nvSpPr>
        <p:spPr>
          <a:xfrm flipH="false" flipV="false" rot="0">
            <a:off x="9184042" y="1002996"/>
            <a:ext cx="4214834" cy="8517739"/>
          </a:xfrm>
          <a:custGeom>
            <a:avLst/>
            <a:gdLst/>
            <a:ahLst/>
            <a:cxnLst/>
            <a:rect r="r" b="b" t="t" l="l"/>
            <a:pathLst>
              <a:path h="8517739" w="4214834">
                <a:moveTo>
                  <a:pt x="0" y="0"/>
                </a:moveTo>
                <a:lnTo>
                  <a:pt x="4214834" y="0"/>
                </a:lnTo>
                <a:lnTo>
                  <a:pt x="4214834" y="8517740"/>
                </a:lnTo>
                <a:lnTo>
                  <a:pt x="0" y="8517740"/>
                </a:lnTo>
                <a:lnTo>
                  <a:pt x="0" y="0"/>
                </a:lnTo>
                <a:close/>
              </a:path>
            </a:pathLst>
          </a:custGeom>
          <a:blipFill>
            <a:blip r:embed="rId5"/>
            <a:stretch>
              <a:fillRect l="0" t="0" r="0" b="0"/>
            </a:stretch>
          </a:blipFill>
        </p:spPr>
      </p:sp>
      <p:sp>
        <p:nvSpPr>
          <p:cNvPr name="TextBox 6" id="6"/>
          <p:cNvSpPr txBox="true"/>
          <p:nvPr/>
        </p:nvSpPr>
        <p:spPr>
          <a:xfrm rot="0">
            <a:off x="7183883" y="342899"/>
            <a:ext cx="4677613" cy="685801"/>
          </a:xfrm>
          <a:prstGeom prst="rect">
            <a:avLst/>
          </a:prstGeom>
        </p:spPr>
        <p:txBody>
          <a:bodyPr anchor="t" rtlCol="false" tIns="0" lIns="0" bIns="0" rIns="0">
            <a:spAutoFit/>
          </a:bodyPr>
          <a:lstStyle/>
          <a:p>
            <a:pPr algn="l" marL="0" indent="0" lvl="0">
              <a:lnSpc>
                <a:spcPts val="5100"/>
              </a:lnSpc>
              <a:spcBef>
                <a:spcPct val="0"/>
              </a:spcBef>
            </a:pPr>
            <a:r>
              <a:rPr lang="en-US" sz="5000">
                <a:solidFill>
                  <a:srgbClr val="000000"/>
                </a:solidFill>
                <a:latin typeface="League Spartan"/>
                <a:ea typeface="League Spartan"/>
                <a:cs typeface="League Spartan"/>
                <a:sym typeface="League Spartan"/>
              </a:rPr>
              <a:t>Mockups</a:t>
            </a:r>
          </a:p>
        </p:txBody>
      </p:sp>
      <p:sp>
        <p:nvSpPr>
          <p:cNvPr name="Freeform 7" id="7"/>
          <p:cNvSpPr/>
          <p:nvPr/>
        </p:nvSpPr>
        <p:spPr>
          <a:xfrm flipH="false" flipV="false" rot="0">
            <a:off x="13656051" y="1028700"/>
            <a:ext cx="4172480" cy="8534619"/>
          </a:xfrm>
          <a:custGeom>
            <a:avLst/>
            <a:gdLst/>
            <a:ahLst/>
            <a:cxnLst/>
            <a:rect r="r" b="b" t="t" l="l"/>
            <a:pathLst>
              <a:path h="8534619" w="4172480">
                <a:moveTo>
                  <a:pt x="0" y="0"/>
                </a:moveTo>
                <a:lnTo>
                  <a:pt x="4172481" y="0"/>
                </a:lnTo>
                <a:lnTo>
                  <a:pt x="4172481" y="8534619"/>
                </a:lnTo>
                <a:lnTo>
                  <a:pt x="0" y="8534619"/>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607790" y="1196082"/>
            <a:ext cx="3844623" cy="8358955"/>
          </a:xfrm>
          <a:custGeom>
            <a:avLst/>
            <a:gdLst/>
            <a:ahLst/>
            <a:cxnLst/>
            <a:rect r="r" b="b" t="t" l="l"/>
            <a:pathLst>
              <a:path h="8358955" w="3844623">
                <a:moveTo>
                  <a:pt x="0" y="0"/>
                </a:moveTo>
                <a:lnTo>
                  <a:pt x="3844623" y="0"/>
                </a:lnTo>
                <a:lnTo>
                  <a:pt x="3844623" y="8358955"/>
                </a:lnTo>
                <a:lnTo>
                  <a:pt x="0" y="8358955"/>
                </a:lnTo>
                <a:lnTo>
                  <a:pt x="0" y="0"/>
                </a:lnTo>
                <a:close/>
              </a:path>
            </a:pathLst>
          </a:custGeom>
          <a:blipFill>
            <a:blip r:embed="rId3"/>
            <a:stretch>
              <a:fillRect l="0" t="0" r="0" b="0"/>
            </a:stretch>
          </a:blipFill>
        </p:spPr>
      </p:sp>
      <p:sp>
        <p:nvSpPr>
          <p:cNvPr name="Freeform 4" id="4"/>
          <p:cNvSpPr/>
          <p:nvPr/>
        </p:nvSpPr>
        <p:spPr>
          <a:xfrm flipH="false" flipV="false" rot="0">
            <a:off x="6273872" y="1650882"/>
            <a:ext cx="4618438" cy="6849113"/>
          </a:xfrm>
          <a:custGeom>
            <a:avLst/>
            <a:gdLst/>
            <a:ahLst/>
            <a:cxnLst/>
            <a:rect r="r" b="b" t="t" l="l"/>
            <a:pathLst>
              <a:path h="6849113" w="4618438">
                <a:moveTo>
                  <a:pt x="0" y="0"/>
                </a:moveTo>
                <a:lnTo>
                  <a:pt x="4618438" y="0"/>
                </a:lnTo>
                <a:lnTo>
                  <a:pt x="4618438" y="6849112"/>
                </a:lnTo>
                <a:lnTo>
                  <a:pt x="0" y="6849112"/>
                </a:lnTo>
                <a:lnTo>
                  <a:pt x="0" y="0"/>
                </a:lnTo>
                <a:close/>
              </a:path>
            </a:pathLst>
          </a:custGeom>
          <a:blipFill>
            <a:blip r:embed="rId4"/>
            <a:stretch>
              <a:fillRect l="0" t="0" r="0" b="0"/>
            </a:stretch>
          </a:blipFill>
        </p:spPr>
      </p:sp>
      <p:sp>
        <p:nvSpPr>
          <p:cNvPr name="Freeform 5" id="5"/>
          <p:cNvSpPr/>
          <p:nvPr/>
        </p:nvSpPr>
        <p:spPr>
          <a:xfrm flipH="false" flipV="false" rot="0">
            <a:off x="11730642" y="1054265"/>
            <a:ext cx="4432247" cy="7936815"/>
          </a:xfrm>
          <a:custGeom>
            <a:avLst/>
            <a:gdLst/>
            <a:ahLst/>
            <a:cxnLst/>
            <a:rect r="r" b="b" t="t" l="l"/>
            <a:pathLst>
              <a:path h="7936815" w="4432247">
                <a:moveTo>
                  <a:pt x="0" y="0"/>
                </a:moveTo>
                <a:lnTo>
                  <a:pt x="4432247" y="0"/>
                </a:lnTo>
                <a:lnTo>
                  <a:pt x="4432247" y="7936815"/>
                </a:lnTo>
                <a:lnTo>
                  <a:pt x="0" y="7936815"/>
                </a:lnTo>
                <a:lnTo>
                  <a:pt x="0" y="0"/>
                </a:lnTo>
                <a:close/>
              </a:path>
            </a:pathLst>
          </a:custGeom>
          <a:blipFill>
            <a:blip r:embed="rId5"/>
            <a:stretch>
              <a:fillRect l="0" t="0" r="0" b="0"/>
            </a:stretch>
          </a:blipFill>
        </p:spPr>
      </p:sp>
      <p:sp>
        <p:nvSpPr>
          <p:cNvPr name="TextBox 6" id="6"/>
          <p:cNvSpPr txBox="true"/>
          <p:nvPr/>
        </p:nvSpPr>
        <p:spPr>
          <a:xfrm rot="0">
            <a:off x="7528170" y="234661"/>
            <a:ext cx="4677613" cy="685801"/>
          </a:xfrm>
          <a:prstGeom prst="rect">
            <a:avLst/>
          </a:prstGeom>
        </p:spPr>
        <p:txBody>
          <a:bodyPr anchor="t" rtlCol="false" tIns="0" lIns="0" bIns="0" rIns="0">
            <a:spAutoFit/>
          </a:bodyPr>
          <a:lstStyle/>
          <a:p>
            <a:pPr algn="l" marL="0" indent="0" lvl="0">
              <a:lnSpc>
                <a:spcPts val="5100"/>
              </a:lnSpc>
              <a:spcBef>
                <a:spcPct val="0"/>
              </a:spcBef>
            </a:pPr>
            <a:r>
              <a:rPr lang="en-US" sz="5000">
                <a:solidFill>
                  <a:srgbClr val="000000"/>
                </a:solidFill>
                <a:latin typeface="League Spartan"/>
                <a:ea typeface="League Spartan"/>
                <a:cs typeface="League Spartan"/>
                <a:sym typeface="League Spartan"/>
              </a:rPr>
              <a:t>Mockups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6456846" y="-4909588"/>
            <a:ext cx="15833596" cy="15196588"/>
            <a:chOff x="0" y="0"/>
            <a:chExt cx="21111461" cy="20262117"/>
          </a:xfrm>
        </p:grpSpPr>
        <p:grpSp>
          <p:nvGrpSpPr>
            <p:cNvPr name="Group 4" id="4"/>
            <p:cNvGrpSpPr/>
            <p:nvPr/>
          </p:nvGrpSpPr>
          <p:grpSpPr>
            <a:xfrm rot="6000000">
              <a:off x="7774579" y="9617143"/>
              <a:ext cx="7755110" cy="11632665"/>
              <a:chOff x="0" y="0"/>
              <a:chExt cx="406400" cy="609600"/>
            </a:xfrm>
          </p:grpSpPr>
          <p:sp>
            <p:nvSpPr>
              <p:cNvPr name="Freeform 5" id="5"/>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95D91"/>
              </a:solidFill>
            </p:spPr>
          </p:sp>
          <p:sp>
            <p:nvSpPr>
              <p:cNvPr name="TextBox 6" id="6"/>
              <p:cNvSpPr txBox="true"/>
              <p:nvPr/>
            </p:nvSpPr>
            <p:spPr>
              <a:xfrm>
                <a:off x="101600" y="-38100"/>
                <a:ext cx="2032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4595998">
              <a:off x="8328167" y="1580943"/>
              <a:ext cx="7755110" cy="14792280"/>
              <a:chOff x="0" y="0"/>
              <a:chExt cx="406400" cy="775177"/>
            </a:xfrm>
          </p:grpSpPr>
          <p:sp>
            <p:nvSpPr>
              <p:cNvPr name="Freeform 8" id="8"/>
              <p:cNvSpPr/>
              <p:nvPr/>
            </p:nvSpPr>
            <p:spPr>
              <a:xfrm flipH="false" flipV="false" rot="0">
                <a:off x="0" y="0"/>
                <a:ext cx="406400" cy="775177"/>
              </a:xfrm>
              <a:custGeom>
                <a:avLst/>
                <a:gdLst/>
                <a:ahLst/>
                <a:cxnLst/>
                <a:rect r="r" b="b" t="t" l="l"/>
                <a:pathLst>
                  <a:path h="775177" w="406400">
                    <a:moveTo>
                      <a:pt x="203200" y="0"/>
                    </a:moveTo>
                    <a:lnTo>
                      <a:pt x="0" y="0"/>
                    </a:lnTo>
                    <a:lnTo>
                      <a:pt x="203200" y="775177"/>
                    </a:lnTo>
                    <a:lnTo>
                      <a:pt x="406400" y="775177"/>
                    </a:lnTo>
                    <a:lnTo>
                      <a:pt x="203200" y="0"/>
                    </a:lnTo>
                    <a:close/>
                  </a:path>
                </a:pathLst>
              </a:custGeom>
              <a:solidFill>
                <a:srgbClr val="0A162E"/>
              </a:solidFill>
            </p:spPr>
          </p:sp>
          <p:sp>
            <p:nvSpPr>
              <p:cNvPr name="TextBox 9" id="9"/>
              <p:cNvSpPr txBox="true"/>
              <p:nvPr/>
            </p:nvSpPr>
            <p:spPr>
              <a:xfrm>
                <a:off x="101600" y="-38100"/>
                <a:ext cx="203200" cy="813277"/>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7084091">
              <a:off x="6678176" y="-1817690"/>
              <a:ext cx="7755110" cy="19790054"/>
              <a:chOff x="0" y="0"/>
              <a:chExt cx="406400" cy="1037081"/>
            </a:xfrm>
          </p:grpSpPr>
          <p:sp>
            <p:nvSpPr>
              <p:cNvPr name="Freeform 11" id="11"/>
              <p:cNvSpPr/>
              <p:nvPr/>
            </p:nvSpPr>
            <p:spPr>
              <a:xfrm flipH="false" flipV="false" rot="0">
                <a:off x="0" y="0"/>
                <a:ext cx="406400" cy="1037081"/>
              </a:xfrm>
              <a:custGeom>
                <a:avLst/>
                <a:gdLst/>
                <a:ahLst/>
                <a:cxnLst/>
                <a:rect r="r" b="b" t="t" l="l"/>
                <a:pathLst>
                  <a:path h="1037081" w="406400">
                    <a:moveTo>
                      <a:pt x="203200" y="0"/>
                    </a:moveTo>
                    <a:lnTo>
                      <a:pt x="406400" y="0"/>
                    </a:lnTo>
                    <a:lnTo>
                      <a:pt x="203200" y="1037081"/>
                    </a:lnTo>
                    <a:lnTo>
                      <a:pt x="0" y="1037081"/>
                    </a:lnTo>
                    <a:lnTo>
                      <a:pt x="203200" y="0"/>
                    </a:lnTo>
                    <a:close/>
                  </a:path>
                </a:pathLst>
              </a:custGeom>
              <a:solidFill>
                <a:srgbClr val="395D91"/>
              </a:solidFill>
            </p:spPr>
          </p:sp>
          <p:sp>
            <p:nvSpPr>
              <p:cNvPr name="TextBox 12" id="12"/>
              <p:cNvSpPr txBox="true"/>
              <p:nvPr/>
            </p:nvSpPr>
            <p:spPr>
              <a:xfrm>
                <a:off x="101600" y="-38100"/>
                <a:ext cx="203200" cy="1075181"/>
              </a:xfrm>
              <a:prstGeom prst="rect">
                <a:avLst/>
              </a:prstGeom>
            </p:spPr>
            <p:txBody>
              <a:bodyPr anchor="ctr" rtlCol="false" tIns="50800" lIns="50800" bIns="50800" rIns="50800"/>
              <a:lstStyle/>
              <a:p>
                <a:pPr algn="ctr">
                  <a:lnSpc>
                    <a:spcPts val="2659"/>
                  </a:lnSpc>
                  <a:spcBef>
                    <a:spcPct val="0"/>
                  </a:spcBef>
                </a:pPr>
              </a:p>
            </p:txBody>
          </p:sp>
        </p:grpSp>
      </p:grpSp>
      <p:sp>
        <p:nvSpPr>
          <p:cNvPr name="TextBox 13" id="13"/>
          <p:cNvSpPr txBox="true"/>
          <p:nvPr/>
        </p:nvSpPr>
        <p:spPr>
          <a:xfrm rot="0">
            <a:off x="400529" y="2726733"/>
            <a:ext cx="9450879" cy="4803775"/>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A162E"/>
                </a:solidFill>
                <a:latin typeface="Glacial Indifference Bold"/>
                <a:ea typeface="Glacial Indifference Bold"/>
                <a:cs typeface="Glacial Indifference Bold"/>
                <a:sym typeface="Glacial Indifference Bold"/>
              </a:rPr>
              <a:t>Impacto Social y Económico:</a:t>
            </a:r>
            <a:r>
              <a:rPr lang="en-US" sz="2499">
                <a:solidFill>
                  <a:srgbClr val="0A162E"/>
                </a:solidFill>
                <a:latin typeface="Glacial Indifference"/>
                <a:ea typeface="Glacial Indifference"/>
                <a:cs typeface="Glacial Indifference"/>
                <a:sym typeface="Glacial Indifference"/>
              </a:rPr>
              <a:t> Aborda un dolor real. Ayudamos a la supervivencia y formalización de pequeños negocios que suelen fracasar por falta de orden financiero.</a:t>
            </a:r>
          </a:p>
          <a:p>
            <a:pPr algn="just" marL="539749" indent="-269875" lvl="1">
              <a:lnSpc>
                <a:spcPts val="3499"/>
              </a:lnSpc>
              <a:buFont typeface="Arial"/>
              <a:buChar char="•"/>
            </a:pPr>
            <a:r>
              <a:rPr lang="en-US" b="true" sz="2499">
                <a:solidFill>
                  <a:srgbClr val="0A162E"/>
                </a:solidFill>
                <a:latin typeface="Glacial Indifference Bold"/>
                <a:ea typeface="Glacial Indifference Bold"/>
                <a:cs typeface="Glacial Indifference Bold"/>
                <a:sym typeface="Glacial Indifference Bold"/>
              </a:rPr>
              <a:t>Democratización de la Tecnología:</a:t>
            </a:r>
            <a:r>
              <a:rPr lang="en-US" sz="2499">
                <a:solidFill>
                  <a:srgbClr val="0A162E"/>
                </a:solidFill>
                <a:latin typeface="Glacial Indifference"/>
                <a:ea typeface="Glacial Indifference"/>
                <a:cs typeface="Glacial Indifference"/>
                <a:sym typeface="Glacial Indifference"/>
              </a:rPr>
              <a:t> Ponemos herramientas de análisis avanzado (métricas de negocio + IA) al alcance de cualquier persona con un smartphone.</a:t>
            </a:r>
          </a:p>
          <a:p>
            <a:pPr algn="just" marL="539749" indent="-269875" lvl="1">
              <a:lnSpc>
                <a:spcPts val="3499"/>
              </a:lnSpc>
              <a:buFont typeface="Arial"/>
              <a:buChar char="•"/>
            </a:pPr>
            <a:r>
              <a:rPr lang="en-US" b="true" sz="2499">
                <a:solidFill>
                  <a:srgbClr val="0A162E"/>
                </a:solidFill>
                <a:latin typeface="Glacial Indifference Bold"/>
                <a:ea typeface="Glacial Indifference Bold"/>
                <a:cs typeface="Glacial Indifference Bold"/>
                <a:sym typeface="Glacial Indifference Bold"/>
              </a:rPr>
              <a:t>Gran potencial de escalabilidad:</a:t>
            </a:r>
            <a:r>
              <a:rPr lang="en-US" sz="2499">
                <a:solidFill>
                  <a:srgbClr val="0A162E"/>
                </a:solidFill>
                <a:latin typeface="Glacial Indifference"/>
                <a:ea typeface="Glacial Indifference"/>
                <a:cs typeface="Glacial Indifference"/>
                <a:sym typeface="Glacial Indifference"/>
              </a:rPr>
              <a:t> El proyecto sienta las bases para, en el futuro, conectar pasarelas de pago, generar reportes tributarios automatizados o predecir ventas mediante Machine Learning.</a:t>
            </a:r>
          </a:p>
          <a:p>
            <a:pPr algn="just">
              <a:lnSpc>
                <a:spcPts val="3499"/>
              </a:lnSpc>
            </a:pPr>
          </a:p>
        </p:txBody>
      </p:sp>
      <p:sp>
        <p:nvSpPr>
          <p:cNvPr name="TextBox 14" id="14"/>
          <p:cNvSpPr txBox="true"/>
          <p:nvPr/>
        </p:nvSpPr>
        <p:spPr>
          <a:xfrm rot="0">
            <a:off x="400529" y="991854"/>
            <a:ext cx="11702753" cy="755015"/>
          </a:xfrm>
          <a:prstGeom prst="rect">
            <a:avLst/>
          </a:prstGeom>
        </p:spPr>
        <p:txBody>
          <a:bodyPr anchor="t" rtlCol="false" tIns="0" lIns="0" bIns="0" rIns="0">
            <a:spAutoFit/>
          </a:bodyPr>
          <a:lstStyle/>
          <a:p>
            <a:pPr algn="just">
              <a:lnSpc>
                <a:spcPts val="6160"/>
              </a:lnSpc>
            </a:pPr>
            <a:r>
              <a:rPr lang="en-US" sz="4400">
                <a:solidFill>
                  <a:srgbClr val="0A162E"/>
                </a:solidFill>
                <a:latin typeface="League Spartan"/>
                <a:ea typeface="League Spartan"/>
                <a:cs typeface="League Spartan"/>
                <a:sym typeface="League Spartan"/>
              </a:rPr>
              <a:t>¿POR QUÉ ESCOGIMOS ESTA IDEA?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aphicFrame>
        <p:nvGraphicFramePr>
          <p:cNvPr name="Table 3" id="3"/>
          <p:cNvGraphicFramePr>
            <a:graphicFrameLocks noGrp="true"/>
          </p:cNvGraphicFramePr>
          <p:nvPr/>
        </p:nvGraphicFramePr>
        <p:xfrm>
          <a:off x="3926585" y="4591050"/>
          <a:ext cx="9422586" cy="1104900"/>
        </p:xfrm>
        <a:graphic>
          <a:graphicData uri="http://schemas.openxmlformats.org/drawingml/2006/table">
            <a:tbl>
              <a:tblPr/>
              <a:tblGrid>
                <a:gridCol w="9422586"/>
              </a:tblGrid>
              <a:tr h="931501">
                <a:tc>
                  <a:txBody>
                    <a:bodyPr anchor="t" rtlCol="false"/>
                    <a:lstStyle/>
                    <a:p>
                      <a:pPr algn="ctr" marL="0" indent="0" lvl="0">
                        <a:lnSpc>
                          <a:spcPts val="5650"/>
                        </a:lnSpc>
                        <a:spcBef>
                          <a:spcPct val="0"/>
                        </a:spcBef>
                        <a:defRPr/>
                      </a:pPr>
                      <a:r>
                        <a:rPr lang="en-US" sz="5000">
                          <a:solidFill>
                            <a:srgbClr val="000000"/>
                          </a:solidFill>
                          <a:latin typeface="League Spartan"/>
                          <a:ea typeface="League Spartan"/>
                          <a:cs typeface="League Spartan"/>
                          <a:sym typeface="League Spartan"/>
                        </a:rPr>
                        <a:t>Gracias por su atención</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grpSp>
        <p:nvGrpSpPr>
          <p:cNvPr name="Group 4" id="4"/>
          <p:cNvGrpSpPr/>
          <p:nvPr/>
        </p:nvGrpSpPr>
        <p:grpSpPr>
          <a:xfrm rot="-5400000">
            <a:off x="13603807" y="7524419"/>
            <a:ext cx="5816332" cy="5032385"/>
            <a:chOff x="0" y="0"/>
            <a:chExt cx="406400" cy="351624"/>
          </a:xfrm>
        </p:grpSpPr>
        <p:sp>
          <p:nvSpPr>
            <p:cNvPr name="Freeform 5" id="5"/>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6" id="6"/>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5400000">
            <a:off x="10554773" y="5461939"/>
            <a:ext cx="5816332" cy="9650123"/>
            <a:chOff x="0" y="0"/>
            <a:chExt cx="406400" cy="674275"/>
          </a:xfrm>
        </p:grpSpPr>
        <p:sp>
          <p:nvSpPr>
            <p:cNvPr name="Freeform 8" id="8"/>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9" id="9"/>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5400000">
            <a:off x="-356021" y="5461939"/>
            <a:ext cx="5816332" cy="9650123"/>
            <a:chOff x="0" y="0"/>
            <a:chExt cx="406400" cy="674275"/>
          </a:xfrm>
        </p:grpSpPr>
        <p:sp>
          <p:nvSpPr>
            <p:cNvPr name="Freeform 11" id="11"/>
            <p:cNvSpPr/>
            <p:nvPr/>
          </p:nvSpPr>
          <p:spPr>
            <a:xfrm flipH="false" flipV="false" rot="0">
              <a:off x="0" y="0"/>
              <a:ext cx="406400" cy="674275"/>
            </a:xfrm>
            <a:custGeom>
              <a:avLst/>
              <a:gdLst/>
              <a:ahLst/>
              <a:cxnLst/>
              <a:rect r="r" b="b" t="t" l="l"/>
              <a:pathLst>
                <a:path h="674275" w="406400">
                  <a:moveTo>
                    <a:pt x="203200" y="0"/>
                  </a:moveTo>
                  <a:lnTo>
                    <a:pt x="406400" y="0"/>
                  </a:lnTo>
                  <a:lnTo>
                    <a:pt x="203200" y="674275"/>
                  </a:lnTo>
                  <a:lnTo>
                    <a:pt x="0" y="674275"/>
                  </a:lnTo>
                  <a:lnTo>
                    <a:pt x="203200" y="0"/>
                  </a:lnTo>
                  <a:close/>
                </a:path>
              </a:pathLst>
            </a:custGeom>
            <a:solidFill>
              <a:srgbClr val="395D91"/>
            </a:solidFill>
          </p:spPr>
        </p:sp>
        <p:sp>
          <p:nvSpPr>
            <p:cNvPr name="TextBox 12" id="12"/>
            <p:cNvSpPr txBox="true"/>
            <p:nvPr/>
          </p:nvSpPr>
          <p:spPr>
            <a:xfrm>
              <a:off x="101600" y="-38100"/>
              <a:ext cx="203200" cy="71237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5400000">
            <a:off x="3213519" y="7770807"/>
            <a:ext cx="5816332" cy="5032385"/>
            <a:chOff x="0" y="0"/>
            <a:chExt cx="406400" cy="351624"/>
          </a:xfrm>
        </p:grpSpPr>
        <p:sp>
          <p:nvSpPr>
            <p:cNvPr name="Freeform 14" id="14"/>
            <p:cNvSpPr/>
            <p:nvPr/>
          </p:nvSpPr>
          <p:spPr>
            <a:xfrm flipH="false" flipV="false" rot="0">
              <a:off x="0" y="0"/>
              <a:ext cx="406400" cy="351624"/>
            </a:xfrm>
            <a:custGeom>
              <a:avLst/>
              <a:gdLst/>
              <a:ahLst/>
              <a:cxnLst/>
              <a:rect r="r" b="b" t="t" l="l"/>
              <a:pathLst>
                <a:path h="351624" w="406400">
                  <a:moveTo>
                    <a:pt x="203200" y="0"/>
                  </a:moveTo>
                  <a:lnTo>
                    <a:pt x="0" y="0"/>
                  </a:lnTo>
                  <a:lnTo>
                    <a:pt x="203200" y="351624"/>
                  </a:lnTo>
                  <a:lnTo>
                    <a:pt x="406400" y="351624"/>
                  </a:lnTo>
                  <a:lnTo>
                    <a:pt x="203200" y="0"/>
                  </a:lnTo>
                  <a:close/>
                </a:path>
              </a:pathLst>
            </a:custGeom>
            <a:solidFill>
              <a:srgbClr val="0A162E"/>
            </a:solidFill>
          </p:spPr>
        </p:sp>
        <p:sp>
          <p:nvSpPr>
            <p:cNvPr name="TextBox 15" id="15"/>
            <p:cNvSpPr txBox="true"/>
            <p:nvPr/>
          </p:nvSpPr>
          <p:spPr>
            <a:xfrm>
              <a:off x="101600" y="-38100"/>
              <a:ext cx="203200" cy="38972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DAHU3czjuiQ</dc:identifier>
  <dcterms:modified xsi:type="dcterms:W3CDTF">2011-08-01T06:04:30Z</dcterms:modified>
  <cp:revision>1</cp:revision>
  <dc:title>PPT Autonomia LS </dc:title>
</cp:coreProperties>
</file>